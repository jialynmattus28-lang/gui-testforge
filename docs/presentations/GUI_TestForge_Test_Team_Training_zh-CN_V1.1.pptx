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  <p:sldId id="271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测试与开发分离，不等于测试用例对开发保密。开发人员可以拿到已编译的用例，边开发边运行，但不得自行修改冻结的业务约束来换取通过。PRD是业务依据；Test IR是机器可读且人可审的测试资产。真实GUI不存在不妨碍编译，缺少接入条件时不得把Mock运行标成真实验收通过。来源：用户确认的技术预研目标、docs/implementation.md、docs/gui-adapter.md。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用例只表达语义，例如选择CARD_002。GUI Driver根据真实页面结构找到该卡对应控件，通过Playwright操作，再从真实GUI或被测业务状态中读取观测值。实际返回值送给固定测试断言比较，Driver不决定及格、不读取expected来回填、不复制一套与系统无关的业务状态机。界面ID或布局变化且语义协议仍相同时，维护Driver映射而不是修改冻结规则；业务或协议变更则需要重新走版本与审批。开发方提供该适配器及依赖说明。本项目以gui-driver.mjs交付；.mjs是JavaScript模块代码文件扩展名，不是标准规范文档。本页完全为原理示意，不展示历史修复案例。来源：桌面测试接入说明§1、3、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94690"/>
            <a:ext cx="2630805" cy="57594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zh-CN" altLang="en-US" sz="3200" b="1" dirty="0">
                <a:solidFill>
                  <a:srgbClr val="20303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主体</a:t>
            </a:r>
            <a:r>
              <a:rPr lang="zh-CN" altLang="en-US" sz="3200" b="1" dirty="0">
                <a:solidFill>
                  <a:srgbClr val="20303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流程</a:t>
            </a:r>
            <a:endParaRPr lang="zh-CN" altLang="en-US" sz="3200" b="1" dirty="0">
              <a:solidFill>
                <a:srgbClr val="203038"/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37392" y="651052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5B6C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513" y="2351405"/>
            <a:ext cx="1234440" cy="310896"/>
          </a:xfrm>
          <a:prstGeom prst="rect">
            <a:avLst/>
          </a:prstGeom>
          <a:solidFill>
            <a:srgbClr val="EAF0FF"/>
          </a:solidFill>
          <a:ln w="8890">
            <a:solidFill>
              <a:srgbClr val="EAF0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414016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466BC8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测试线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057400" y="1974850"/>
            <a:ext cx="1758950" cy="3204845"/>
          </a:xfrm>
          <a:prstGeom prst="rect">
            <a:avLst/>
          </a:prstGeom>
          <a:solidFill>
            <a:srgbClr val="FFF2DE"/>
          </a:solidFill>
          <a:ln w="8890">
            <a:solidFill>
              <a:srgbClr val="FFF2DE"/>
            </a:solidFill>
            <a:prstDash val="solid"/>
          </a:ln>
          <a:effectLst>
            <a:outerShdw blurRad="152400" dist="38100" dir="2700000" sx="104000" sy="104000" algn="tl" rotWithShape="0">
              <a:prstClr val="black">
                <a:alpha val="40000"/>
              </a:prst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212848" y="2103120"/>
            <a:ext cx="12344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B86A20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02485" y="3279775"/>
            <a:ext cx="1682115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PRD/SPEC/...</a:t>
            </a:r>
            <a:endParaRPr lang="zh-CN" altLang="en-US" sz="2000" b="1" dirty="0">
              <a:solidFill>
                <a:schemeClr val="accent2">
                  <a:lumMod val="50000"/>
                </a:schemeClr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046220" y="2117725"/>
            <a:ext cx="502920" cy="5041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en-US" sz="3200" b="1" dirty="0">
                <a:ln/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 Semibold" panose="020B0400000000000000" charset="-122"/>
                <a:ea typeface="PingFang SC Semibold" panose="020B0400000000000000" charset="-122"/>
              </a:rPr>
              <a:t>AI</a:t>
            </a:r>
            <a:endParaRPr lang="en-US" sz="3200" b="1" dirty="0">
              <a:ln/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6940550" y="1984375"/>
            <a:ext cx="1390015" cy="1325880"/>
            <a:chOff x="10864" y="3166"/>
            <a:chExt cx="2189" cy="2088"/>
          </a:xfrm>
        </p:grpSpPr>
        <p:sp>
          <p:nvSpPr>
            <p:cNvPr id="18" name="Shape 15"/>
            <p:cNvSpPr/>
            <p:nvPr/>
          </p:nvSpPr>
          <p:spPr>
            <a:xfrm>
              <a:off x="10864" y="3166"/>
              <a:ext cx="2171" cy="208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8890">
              <a:solidFill>
                <a:srgbClr val="FFF2DE"/>
              </a:solidFill>
              <a:prstDash val="solid"/>
            </a:ln>
            <a:effectLst>
              <a:outerShdw blurRad="152400" dist="38100" dir="2700000" sx="104000" sy="104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9" name="Text 16"/>
            <p:cNvSpPr/>
            <p:nvPr/>
          </p:nvSpPr>
          <p:spPr>
            <a:xfrm>
              <a:off x="11109" y="3368"/>
              <a:ext cx="194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en-US" sz="1200" b="1" dirty="0">
                  <a:solidFill>
                    <a:schemeClr val="accent4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03</a:t>
              </a:r>
              <a:endParaRPr lang="en-US" sz="1200" b="1" dirty="0">
                <a:solidFill>
                  <a:schemeClr val="accent4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11109" y="3858"/>
              <a:ext cx="1869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algn="l">
                <a:lnSpc>
                  <a:spcPct val="106000"/>
                </a:lnSpc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accent2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测试</a:t>
              </a:r>
              <a:r>
                <a:rPr lang="zh-CN" altLang="en-US" sz="2000" b="1" dirty="0">
                  <a:solidFill>
                    <a:schemeClr val="accent2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脚本</a:t>
              </a:r>
              <a:endParaRPr lang="zh-CN" altLang="en-US" sz="2000" b="1" dirty="0">
                <a:solidFill>
                  <a:schemeClr val="accent2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</p:grpSp>
      <p:sp>
        <p:nvSpPr>
          <p:cNvPr id="21" name="Text 18"/>
          <p:cNvSpPr/>
          <p:nvPr/>
        </p:nvSpPr>
        <p:spPr>
          <a:xfrm>
            <a:off x="6205855" y="1956435"/>
            <a:ext cx="699135" cy="7086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5000"/>
          </a:bodyPr>
          <a:lstStyle/>
          <a:p>
            <a:pPr marL="0" algn="l">
              <a:lnSpc>
                <a:spcPct val="106000"/>
              </a:lnSpc>
              <a:buClrTx/>
              <a:buSzTx/>
              <a:buFontTx/>
              <a:buNone/>
            </a:pPr>
            <a:r>
              <a:rPr lang="en-US" sz="3200" b="1" dirty="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 Semibold" panose="020B0400000000000000" charset="-122"/>
                <a:ea typeface="PingFang SC Semibold" panose="020B0400000000000000" charset="-122"/>
              </a:rPr>
              <a:t>编译器</a:t>
            </a:r>
            <a:r>
              <a:rPr lang="en-US" altLang="zh-CN" sz="3200" b="1" dirty="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 Semibold" panose="020B0400000000000000" charset="-122"/>
                <a:ea typeface="PingFang SC Semibold" panose="020B0400000000000000" charset="-122"/>
              </a:rPr>
              <a:t>(</a:t>
            </a:r>
            <a:r>
              <a:rPr lang="en-US" sz="3200" b="1" dirty="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非AI)</a:t>
            </a:r>
            <a:endParaRPr lang="zh-CN" altLang="en-US" sz="3200" b="1" dirty="0"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938270" y="2693670"/>
            <a:ext cx="697865" cy="635"/>
          </a:xfrm>
          <a:prstGeom prst="line">
            <a:avLst/>
          </a:prstGeom>
          <a:noFill/>
          <a:ln w="17780">
            <a:solidFill>
              <a:srgbClr val="5B6C7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255385" y="2691130"/>
            <a:ext cx="559435" cy="1270"/>
          </a:xfrm>
          <a:prstGeom prst="line">
            <a:avLst/>
          </a:prstGeom>
          <a:noFill/>
          <a:ln w="17780">
            <a:solidFill>
              <a:srgbClr val="5B6C73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03758" y="4438904"/>
            <a:ext cx="1234440" cy="310896"/>
          </a:xfrm>
          <a:prstGeom prst="rect">
            <a:avLst/>
          </a:prstGeom>
          <a:solidFill>
            <a:srgbClr val="E7F5F0"/>
          </a:solidFill>
          <a:ln w="8890">
            <a:solidFill>
              <a:srgbClr val="E7F5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622" y="445262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087D72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开发线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724400" y="4054475"/>
            <a:ext cx="3606165" cy="117030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8890">
            <a:solidFill>
              <a:srgbClr val="FFF2DE"/>
            </a:solidFill>
            <a:prstDash val="solid"/>
          </a:ln>
          <a:effectLst>
            <a:outerShdw blurRad="152400" dist="38100" dir="2700000" sx="104000" sy="104000" algn="tl" rotWithShape="0">
              <a:prstClr val="black">
                <a:alpha val="40000"/>
              </a:prst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944110" y="4488815"/>
            <a:ext cx="2933065" cy="3841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0000"/>
          </a:bodyPr>
          <a:lstStyle/>
          <a:p>
            <a:pPr marL="0" algn="l">
              <a:lnSpc>
                <a:spcPct val="106000"/>
              </a:lnSpc>
              <a:buClrTx/>
              <a:buSzTx/>
              <a:buFontTx/>
              <a:buNone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业务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代码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 xml:space="preserve">开发 +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GUI Driver开发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9286240" y="3279775"/>
            <a:ext cx="2124710" cy="1198880"/>
            <a:chOff x="14132" y="5165"/>
            <a:chExt cx="3346" cy="2206"/>
          </a:xfrm>
        </p:grpSpPr>
        <p:sp>
          <p:nvSpPr>
            <p:cNvPr id="29" name="Shape 26"/>
            <p:cNvSpPr/>
            <p:nvPr/>
          </p:nvSpPr>
          <p:spPr>
            <a:xfrm>
              <a:off x="14132" y="5165"/>
              <a:ext cx="3346" cy="220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8890">
              <a:solidFill>
                <a:srgbClr val="FFF2DE"/>
              </a:solidFill>
              <a:prstDash val="solid"/>
            </a:ln>
            <a:effectLst>
              <a:outerShdw blurRad="152400" dist="38100" dir="2700000" sx="104000" sy="104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30" name="Text 27"/>
            <p:cNvSpPr/>
            <p:nvPr/>
          </p:nvSpPr>
          <p:spPr>
            <a:xfrm>
              <a:off x="14300" y="5672"/>
              <a:ext cx="2910" cy="162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algn="l">
                <a:lnSpc>
                  <a:spcPct val="106000"/>
                </a:lnSpc>
                <a:buClrTx/>
                <a:buSzTx/>
                <a:buFontTx/>
                <a:buNone/>
              </a:pPr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Playwright</a:t>
              </a:r>
              <a:endParaRPr lang="en-US" sz="20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  <a:p>
              <a:pPr marL="0" algn="l">
                <a:lnSpc>
                  <a:spcPct val="106000"/>
                </a:lnSpc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accent6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执行测试脚本</a:t>
              </a:r>
              <a:endParaRPr lang="zh-CN" altLang="en-US" sz="20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</p:grpSp>
      <p:sp>
        <p:nvSpPr>
          <p:cNvPr id="32" name="Shape 29"/>
          <p:cNvSpPr/>
          <p:nvPr/>
        </p:nvSpPr>
        <p:spPr>
          <a:xfrm rot="19080000">
            <a:off x="8488680" y="4381500"/>
            <a:ext cx="835660" cy="22225"/>
          </a:xfrm>
          <a:prstGeom prst="line">
            <a:avLst/>
          </a:prstGeom>
          <a:noFill/>
          <a:ln w="17780">
            <a:solidFill>
              <a:srgbClr val="087D72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 rot="18300000" flipH="1">
            <a:off x="8892540" y="2911475"/>
            <a:ext cx="15240" cy="715645"/>
          </a:xfrm>
          <a:prstGeom prst="line">
            <a:avLst/>
          </a:prstGeom>
          <a:noFill/>
          <a:ln w="17780">
            <a:solidFill>
              <a:srgbClr val="087D72"/>
            </a:solidFill>
            <a:prstDash val="solid"/>
            <a:tailEnd type="triangle"/>
          </a:ln>
        </p:spPr>
      </p:sp>
      <p:grpSp>
        <p:nvGrpSpPr>
          <p:cNvPr id="36" name="Group 35"/>
          <p:cNvGrpSpPr/>
          <p:nvPr/>
        </p:nvGrpSpPr>
        <p:grpSpPr>
          <a:xfrm>
            <a:off x="4724400" y="1986915"/>
            <a:ext cx="1389380" cy="1325880"/>
            <a:chOff x="7162" y="3129"/>
            <a:chExt cx="2188" cy="2088"/>
          </a:xfrm>
        </p:grpSpPr>
        <p:sp>
          <p:nvSpPr>
            <p:cNvPr id="14" name="Shape 11"/>
            <p:cNvSpPr/>
            <p:nvPr/>
          </p:nvSpPr>
          <p:spPr>
            <a:xfrm>
              <a:off x="7162" y="3129"/>
              <a:ext cx="2167" cy="20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8890">
              <a:solidFill>
                <a:srgbClr val="FFF2DE"/>
              </a:solidFill>
              <a:prstDash val="solid"/>
            </a:ln>
            <a:effectLst>
              <a:outerShdw blurRad="152400" dist="38100" dir="2700000" sx="104000" sy="104000" algn="tl" rotWithShape="0">
                <a:prstClr val="black">
                  <a:alpha val="40000"/>
                </a:prstClr>
              </a:outerShdw>
            </a:effectLst>
          </p:spPr>
        </p:sp>
        <p:sp>
          <p:nvSpPr>
            <p:cNvPr id="16" name="Text 13"/>
            <p:cNvSpPr/>
            <p:nvPr/>
          </p:nvSpPr>
          <p:spPr>
            <a:xfrm>
              <a:off x="7407" y="3842"/>
              <a:ext cx="1722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algn="l">
                <a:lnSpc>
                  <a:spcPct val="106000"/>
                </a:lnSpc>
                <a:buClrTx/>
                <a:buSzTx/>
                <a:buFontTx/>
                <a:buNone/>
              </a:pPr>
              <a:r>
                <a:rPr lang="en-US" sz="2000" b="1" dirty="0">
                  <a:solidFill>
                    <a:schemeClr val="accent2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Test IR</a:t>
              </a:r>
              <a:endParaRPr lang="en-US" sz="2000" b="1" dirty="0">
                <a:solidFill>
                  <a:schemeClr val="accent2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7407" y="4576"/>
              <a:ext cx="1810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en-US" sz="1350" dirty="0">
                  <a:solidFill>
                    <a:srgbClr val="5B6C73"/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人审 → 冻结</a:t>
              </a:r>
              <a:endParaRPr lang="en-US" sz="1350" dirty="0"/>
            </a:p>
          </p:txBody>
        </p:sp>
        <p:sp>
          <p:nvSpPr>
            <p:cNvPr id="4" name="Text 12"/>
            <p:cNvSpPr/>
            <p:nvPr/>
          </p:nvSpPr>
          <p:spPr>
            <a:xfrm>
              <a:off x="7406" y="3372"/>
              <a:ext cx="194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en-US" sz="1200" b="1" dirty="0">
                  <a:solidFill>
                    <a:srgbClr val="8A4267"/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02</a:t>
              </a:r>
              <a:endParaRPr lang="en-US" sz="1200" dirty="0"/>
            </a:p>
          </p:txBody>
        </p:sp>
      </p:grpSp>
      <p:sp>
        <p:nvSpPr>
          <p:cNvPr id="39" name="Text 12"/>
          <p:cNvSpPr/>
          <p:nvPr/>
        </p:nvSpPr>
        <p:spPr>
          <a:xfrm>
            <a:off x="4046855" y="4054475"/>
            <a:ext cx="502920" cy="5041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  <a:scene3d>
              <a:camera prst="orthographicFront"/>
              <a:lightRig rig="threePt" dir="t"/>
            </a:scene3d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en-US" sz="3200" b="1" dirty="0">
                <a:gradFill>
                  <a:gsLst>
                    <a:gs pos="0">
                      <a:schemeClr val="accent5">
                        <a:lumMod val="50000"/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PingFang SC Semibold" panose="020B0400000000000000" charset="-122"/>
                <a:ea typeface="PingFang SC Semibold" panose="020B0400000000000000" charset="-122"/>
              </a:rPr>
              <a:t>AI</a:t>
            </a:r>
            <a:endParaRPr lang="en-US" sz="3200" b="1" dirty="0">
              <a:gradFill>
                <a:gsLst>
                  <a:gs pos="0">
                    <a:schemeClr val="accent5">
                      <a:lumMod val="50000"/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40" name="Shape 19"/>
          <p:cNvSpPr/>
          <p:nvPr/>
        </p:nvSpPr>
        <p:spPr>
          <a:xfrm>
            <a:off x="3938270" y="4625340"/>
            <a:ext cx="697865" cy="635"/>
          </a:xfrm>
          <a:prstGeom prst="line">
            <a:avLst/>
          </a:prstGeom>
          <a:noFill/>
          <a:ln w="17780">
            <a:solidFill>
              <a:srgbClr val="5B6C73"/>
            </a:solidFill>
            <a:prstDash val="solid"/>
            <a:tailEnd type="triangle"/>
          </a:ln>
        </p:spPr>
      </p:sp>
      <p:sp>
        <p:nvSpPr>
          <p:cNvPr id="41" name="Text 8"/>
          <p:cNvSpPr/>
          <p:nvPr/>
        </p:nvSpPr>
        <p:spPr>
          <a:xfrm>
            <a:off x="4883023" y="4118610"/>
            <a:ext cx="12344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02</a:t>
            </a:r>
            <a:endParaRPr lang="en-US" sz="1200" b="1" dirty="0">
              <a:solidFill>
                <a:schemeClr val="accent1">
                  <a:lumMod val="75000"/>
                </a:schemeClr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9392666" y="3398520"/>
            <a:ext cx="1234440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6000"/>
              </a:lnSpc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04</a:t>
            </a:r>
            <a:endParaRPr lang="en-US" sz="1200" b="1" dirty="0">
              <a:solidFill>
                <a:schemeClr val="accent6">
                  <a:lumMod val="50000"/>
                </a:schemeClr>
              </a:solidFill>
              <a:latin typeface="PingFang SC" panose="020B0400000000000000" pitchFamily="34" charset="-122"/>
              <a:ea typeface="PingFang SC" panose="020B0400000000000000" pitchFamily="34" charset="-122"/>
              <a:cs typeface="PingFang SC" panose="020B0400000000000000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22275"/>
            <a:ext cx="4610100" cy="848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lnSpc>
                <a:spcPct val="106000"/>
              </a:lnSpc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测试脚本</a:t>
            </a:r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执行</a:t>
            </a:r>
            <a:r>
              <a:rPr lang="zh-CN" altLang="en-US" sz="32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原理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137392" y="651052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5B6C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rPr>
              <a:t>16</a:t>
            </a:r>
            <a:endParaRPr lang="en-US" sz="1100" dirty="0"/>
          </a:p>
        </p:txBody>
      </p:sp>
      <p:grpSp>
        <p:nvGrpSpPr>
          <p:cNvPr id="27" name="Group 26"/>
          <p:cNvGrpSpPr/>
          <p:nvPr/>
        </p:nvGrpSpPr>
        <p:grpSpPr>
          <a:xfrm>
            <a:off x="678815" y="2611120"/>
            <a:ext cx="2917190" cy="1440180"/>
            <a:chOff x="1004" y="3819"/>
            <a:chExt cx="4594" cy="2268"/>
          </a:xfrm>
        </p:grpSpPr>
        <p:sp>
          <p:nvSpPr>
            <p:cNvPr id="8" name="Shape 5"/>
            <p:cNvSpPr/>
            <p:nvPr/>
          </p:nvSpPr>
          <p:spPr>
            <a:xfrm>
              <a:off x="1004" y="3819"/>
              <a:ext cx="4594" cy="22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8890">
              <a:solidFill>
                <a:srgbClr val="F5EAF0"/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1248" y="3999"/>
              <a:ext cx="194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en-US" sz="1200" b="1" dirty="0">
                  <a:solidFill>
                    <a:srgbClr val="8A4267"/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规则</a:t>
              </a:r>
              <a:endParaRPr lang="en-US" sz="12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004" y="4647"/>
              <a:ext cx="4104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6000"/>
                </a:lnSpc>
                <a:buNone/>
              </a:pPr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测试</a:t>
              </a:r>
              <a:r>
                <a:rPr lang="zh-CN" altLang="en-US" sz="2400" b="1" dirty="0">
                  <a:solidFill>
                    <a:schemeClr val="accent6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脚本</a:t>
              </a:r>
              <a:endParaRPr lang="zh-CN" altLang="en-US" sz="24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4319905" y="2611120"/>
            <a:ext cx="2917190" cy="1440180"/>
            <a:chOff x="6738" y="3819"/>
            <a:chExt cx="4594" cy="2268"/>
          </a:xfrm>
        </p:grpSpPr>
        <p:sp>
          <p:nvSpPr>
            <p:cNvPr id="12" name="Shape 9"/>
            <p:cNvSpPr/>
            <p:nvPr/>
          </p:nvSpPr>
          <p:spPr>
            <a:xfrm>
              <a:off x="6738" y="3819"/>
              <a:ext cx="4594" cy="226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8890">
              <a:solidFill>
                <a:srgbClr val="E7F5F0"/>
              </a:solidFill>
              <a:prstDash val="solid"/>
            </a:ln>
          </p:spPr>
        </p:sp>
        <p:sp>
          <p:nvSpPr>
            <p:cNvPr id="13" name="Text 10"/>
            <p:cNvSpPr/>
            <p:nvPr/>
          </p:nvSpPr>
          <p:spPr>
            <a:xfrm>
              <a:off x="6983" y="3999"/>
              <a:ext cx="194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en-US" sz="1200" b="1" dirty="0">
                  <a:solidFill>
                    <a:srgbClr val="087D72"/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适配</a:t>
              </a:r>
              <a:endParaRPr lang="en-US" sz="12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6983" y="4388"/>
              <a:ext cx="4104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6000"/>
                </a:lnSpc>
                <a:buNone/>
              </a:pPr>
              <a:r>
                <a:rPr lang="en-US" sz="2400" b="1" dirty="0">
                  <a:solidFill>
                    <a:schemeClr val="accent6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GUI Driver</a:t>
              </a:r>
              <a:endParaRPr lang="en-US" sz="24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6983" y="5223"/>
              <a:ext cx="4104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285750" indent="-285750" algn="ctr">
                <a:lnSpc>
                  <a:spcPct val="106000"/>
                </a:lnSpc>
                <a:buFont typeface="Arial" panose="020B0604020202090204" pitchFamily="34" charset="0"/>
                <a:buChar char="•"/>
              </a:pPr>
              <a:r>
                <a:rPr lang="zh-CN" altLang="en-US" sz="1600" dirty="0">
                  <a:solidFill>
                    <a:srgbClr val="5B6C73"/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控件映射</a:t>
              </a:r>
              <a:endParaRPr lang="zh-CN" altLang="en-US" sz="1600" dirty="0">
                <a:solidFill>
                  <a:srgbClr val="5B6C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  <a:p>
              <a:pPr marL="285750" indent="-285750" algn="ctr">
                <a:lnSpc>
                  <a:spcPct val="106000"/>
                </a:lnSpc>
                <a:buFont typeface="Arial" panose="020B0604020202090204" pitchFamily="34" charset="0"/>
                <a:buChar char="•"/>
              </a:pPr>
              <a:r>
                <a:rPr lang="zh-CN" altLang="en-US" sz="1600" dirty="0">
                  <a:solidFill>
                    <a:srgbClr val="5B6C73"/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取值操作</a:t>
              </a:r>
              <a:endParaRPr lang="zh-CN" altLang="en-US" sz="1600" dirty="0">
                <a:solidFill>
                  <a:srgbClr val="5B6C73"/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8764270" y="2611120"/>
            <a:ext cx="2917190" cy="1325880"/>
            <a:chOff x="13737" y="3819"/>
            <a:chExt cx="4594" cy="2088"/>
          </a:xfrm>
        </p:grpSpPr>
        <p:sp>
          <p:nvSpPr>
            <p:cNvPr id="16" name="Shape 13"/>
            <p:cNvSpPr/>
            <p:nvPr/>
          </p:nvSpPr>
          <p:spPr>
            <a:xfrm>
              <a:off x="13737" y="3819"/>
              <a:ext cx="4594" cy="208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8890">
              <a:solidFill>
                <a:srgbClr val="E7F5F0"/>
              </a:solidFill>
              <a:prstDash val="solid"/>
            </a:ln>
          </p:spPr>
        </p:sp>
        <p:sp>
          <p:nvSpPr>
            <p:cNvPr id="17" name="Text 14"/>
            <p:cNvSpPr/>
            <p:nvPr/>
          </p:nvSpPr>
          <p:spPr>
            <a:xfrm>
              <a:off x="13988" y="3999"/>
              <a:ext cx="194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en-US" sz="1200" b="1" dirty="0">
                  <a:solidFill>
                    <a:schemeClr val="accent4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被测对象</a:t>
              </a:r>
              <a:endParaRPr lang="en-US" sz="1200" b="1" dirty="0">
                <a:solidFill>
                  <a:schemeClr val="accent4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  <p:sp>
          <p:nvSpPr>
            <p:cNvPr id="18" name="Text 15"/>
            <p:cNvSpPr/>
            <p:nvPr/>
          </p:nvSpPr>
          <p:spPr>
            <a:xfrm>
              <a:off x="13988" y="4691"/>
              <a:ext cx="4104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106000"/>
                </a:lnSpc>
                <a:buNone/>
              </a:pPr>
              <a:r>
                <a:rPr lang="en-US" sz="2400" b="1" dirty="0">
                  <a:solidFill>
                    <a:schemeClr val="accent4">
                      <a:lumMod val="50000"/>
                    </a:schemeClr>
                  </a:solidFill>
                  <a:latin typeface="PingFang SC" panose="020B0400000000000000" pitchFamily="34" charset="-122"/>
                  <a:ea typeface="PingFang SC" panose="020B0400000000000000" pitchFamily="34" charset="-122"/>
                  <a:cs typeface="PingFang SC" panose="020B0400000000000000" pitchFamily="34" charset="-120"/>
                </a:rPr>
                <a:t>真实软件(GUI)</a:t>
              </a:r>
              <a:endParaRPr lang="zh-CN" altLang="en-US" sz="2400" b="1" dirty="0">
                <a:solidFill>
                  <a:schemeClr val="accent4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</a:endParaRPr>
            </a:p>
          </p:txBody>
        </p:sp>
      </p:grpSp>
      <p:sp>
        <p:nvSpPr>
          <p:cNvPr id="7" name="Plus 6"/>
          <p:cNvSpPr/>
          <p:nvPr/>
        </p:nvSpPr>
        <p:spPr>
          <a:xfrm>
            <a:off x="3774440" y="3164840"/>
            <a:ext cx="366395" cy="365125"/>
          </a:xfrm>
          <a:prstGeom prst="mathPlus">
            <a:avLst/>
          </a:prstGeom>
          <a:solidFill>
            <a:schemeClr val="accent6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ight Arrow 3"/>
          <p:cNvSpPr/>
          <p:nvPr/>
        </p:nvSpPr>
        <p:spPr>
          <a:xfrm>
            <a:off x="7511415" y="3136900"/>
            <a:ext cx="979170" cy="485775"/>
          </a:xfrm>
          <a:prstGeom prst="rightArrow">
            <a:avLst>
              <a:gd name="adj1" fmla="val 38039"/>
              <a:gd name="adj2" fmla="val 40000"/>
            </a:avLst>
          </a:prstGeom>
          <a:solidFill>
            <a:schemeClr val="accent6">
              <a:lumMod val="75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>
              <a:sym typeface="+mn-ea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01955" y="1988185"/>
            <a:ext cx="11583670" cy="2641600"/>
          </a:xfrm>
          <a:prstGeom prst="roundRect">
            <a:avLst/>
          </a:prstGeom>
          <a:noFill/>
          <a:ln w="47625" cap="flat" cmpd="sng">
            <a:solidFill>
              <a:schemeClr val="accent6">
                <a:lumMod val="50000"/>
              </a:schemeClr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Text 1"/>
          <p:cNvSpPr/>
          <p:nvPr/>
        </p:nvSpPr>
        <p:spPr>
          <a:xfrm>
            <a:off x="4861560" y="1270635"/>
            <a:ext cx="2406650" cy="848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lnSpc>
                <a:spcPct val="106000"/>
              </a:lnSpc>
              <a:buClrTx/>
              <a:buSzTx/>
              <a:buFontTx/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PingFang SC" panose="020B0400000000000000" pitchFamily="34" charset="-122"/>
                <a:ea typeface="PingFang SC" panose="020B0400000000000000" pitchFamily="34" charset="-122"/>
                <a:cs typeface="PingFang SC" panose="020B0400000000000000" pitchFamily="34" charset="-120"/>
                <a:sym typeface="+mn-ea"/>
              </a:rPr>
              <a:t>Playwright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WPS Presentation</Application>
  <PresentationFormat>On-screen Show (16:9)</PresentationFormat>
  <Paragraphs>58</Paragraphs>
  <Slides>2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SimSun</vt:lpstr>
      <vt:lpstr>Wingdings</vt:lpstr>
      <vt:lpstr>PingFang SC</vt:lpstr>
      <vt:lpstr>PingFang SC</vt:lpstr>
      <vt:lpstr>Microsoft YaHei</vt:lpstr>
      <vt:lpstr>汉仪旗黑</vt:lpstr>
      <vt:lpstr>Arial Unicode MS</vt:lpstr>
      <vt:lpstr>Calibri</vt:lpstr>
      <vt:lpstr>Helvetica Neue</vt:lpstr>
      <vt:lpstr>汉仪书宋二KW</vt:lpstr>
      <vt:lpstr>PingFang SC Semibold</vt:lpstr>
      <vt:lpstr>等线</vt:lpstr>
      <vt:lpstr>汉仪中等线KW</vt:lpstr>
      <vt:lpstr>Office Theme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AI测试设计与确定性执行</dc:title>
  <dc:creator>吴笛（Dean Wu）</dc:creator>
  <dc:subject>面向测试设计团队的 AI 职责、确定性执行、人审与冻结归档流程</dc:subject>
  <cp:lastModifiedBy>吴笛（Dean Wu）</cp:lastModifiedBy>
  <cp:revision>8</cp:revision>
  <dcterms:created xsi:type="dcterms:W3CDTF">2026-09-20T14:34:08Z</dcterms:created>
  <dcterms:modified xsi:type="dcterms:W3CDTF">2026-09-20T14:34:08Z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1033-12.1.25201.25201</vt:lpwstr>
  </property>
  <property fmtid="{D5CDD505-2E9C-101B-9397-08002B2CF9AE}" pid="3" name="ICV">
    <vt:lpwstr>275276994C5515DC27F09F6A80291164_42</vt:lpwstr>
  </property>
</Properties>
</file>